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8abc181-6590-c530-f57d-5a8ff50a3130}">
          <p14:sldIdLst>
            <p14:sldId id="256"/>
          </p14:sldIdLst>
        </p14:section>
        <p14:section name="Problem" id="{6c76c0d4-4893-2b06-bbb5-5d66876fa118}">
          <p14:sldIdLst>
            <p14:sldId id="257"/>
            <p14:sldId id="258"/>
          </p14:sldIdLst>
        </p14:section>
        <p14:section name="Design" id="{1dc9c7ec-6f62-ab80-2353-17387fedda57}">
          <p14:sldIdLst>
            <p14:sldId id="259"/>
          </p14:sldIdLst>
        </p14:section>
        <p14:section name="Algorithm" id="{61cac80b-4a42-856e-2a9d-753544a5ab83}">
          <p14:sldIdLst>
            <p14:sldId id="260"/>
            <p14:sldId id="261"/>
            <p14:sldId id="262"/>
          </p14:sldIdLst>
        </p14:section>
        <p14:section name="Analysis" id="{4d60650e-8337-34f5-ff45-542fa9c93ea5}">
          <p14:sldIdLst>
            <p14:sldId id="263"/>
            <p14:sldId id="264"/>
          </p14:sldIdLst>
        </p14:section>
        <p14:section name="Wrap up" id="{b2c29ec0-96a1-d01d-f15e-7b76c93dfe9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choose items to maximize value under a weight limit, each item taken whole or not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A26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A26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640080" y="73152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0/1 Knapsack Problem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Analysis and Algorithm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approach  |  Design and Analysis of Algorithms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A26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row card"/>
          <p:cNvSpPr/>
          <p:nvPr/>
        </p:nvSpPr>
        <p:spPr>
          <a:xfrm>
            <a:off x="457200" y="1234440"/>
            <a:ext cx="4663440" cy="7315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075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items, each with weight wᵢ and value vᵢ, and a knapsack of capacity W</a:t>
            </a:r>
            <a:endParaRPr lang="en-US" sz="1400" dirty="0"/>
          </a:p>
        </p:txBody>
      </p:sp>
      <p:sp>
        <p:nvSpPr>
          <p:cNvPr id="7" name="row card"/>
          <p:cNvSpPr/>
          <p:nvPr/>
        </p:nvSpPr>
        <p:spPr>
          <a:xfrm>
            <a:off x="457200" y="2103120"/>
            <a:ext cx="4663440" cy="7315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594360" y="22402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762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item pick xᵢ = 1 (take it whole) or xᵢ = 0 (leave it). No fractions</a:t>
            </a:r>
            <a:endParaRPr lang="en-US" sz="1400" dirty="0"/>
          </a:p>
        </p:txBody>
      </p:sp>
      <p:sp>
        <p:nvSpPr>
          <p:cNvPr id="11" name="row card"/>
          <p:cNvSpPr/>
          <p:nvPr/>
        </p:nvSpPr>
        <p:spPr>
          <a:xfrm>
            <a:off x="457200" y="2971800"/>
            <a:ext cx="4663440" cy="7315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0449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total value without the total weight exceeding W</a:t>
            </a:r>
            <a:endParaRPr lang="en-US" sz="1400" dirty="0"/>
          </a:p>
        </p:txBody>
      </p:sp>
      <p:sp>
        <p:nvSpPr>
          <p:cNvPr id="15" name="formula card"/>
          <p:cNvSpPr/>
          <p:nvPr/>
        </p:nvSpPr>
        <p:spPr>
          <a:xfrm>
            <a:off x="5394960" y="1234440"/>
            <a:ext cx="3291840" cy="2423160"/>
          </a:xfrm>
          <a:prstGeom prst="roundRect">
            <a:avLst>
              <a:gd name="adj" fmla="val 4528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2356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maximize  Σ vᵢ · xᵢ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to  Σ wᵢ · xᵢ ≤ W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 ∈ {0, 1}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budget allocation, cargo loading, project selection, cutting stock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greedy fails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W = 50. Greedy by value/weight ratio looks natural but is not optimal.</a:t>
            </a:r>
            <a:endParaRPr lang="en-US" sz="1600" dirty="0"/>
          </a:p>
        </p:txBody>
      </p:sp>
      <p:sp>
        <p:nvSpPr>
          <p:cNvPr id="4" name="item card"/>
          <p:cNvSpPr/>
          <p:nvPr/>
        </p:nvSpPr>
        <p:spPr>
          <a:xfrm>
            <a:off x="457200" y="169164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10, v = 60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6.0</a:t>
            </a:r>
            <a:endParaRPr lang="en-US" sz="1400" dirty="0"/>
          </a:p>
        </p:txBody>
      </p:sp>
      <p:sp>
        <p:nvSpPr>
          <p:cNvPr id="6" name="item card"/>
          <p:cNvSpPr/>
          <p:nvPr/>
        </p:nvSpPr>
        <p:spPr>
          <a:xfrm>
            <a:off x="3291840" y="169164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20, v = 100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5.0</a:t>
            </a:r>
            <a:endParaRPr lang="en-US" sz="1400" dirty="0"/>
          </a:p>
        </p:txBody>
      </p:sp>
      <p:sp>
        <p:nvSpPr>
          <p:cNvPr id="8" name="item card"/>
          <p:cNvSpPr/>
          <p:nvPr/>
        </p:nvSpPr>
        <p:spPr>
          <a:xfrm>
            <a:off x="6126480" y="169164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30, v = 120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4.0</a:t>
            </a:r>
            <a:endParaRPr lang="en-US" sz="1400" dirty="0"/>
          </a:p>
        </p:txBody>
      </p:sp>
      <p:sp>
        <p:nvSpPr>
          <p:cNvPr id="10" name="greedy result"/>
          <p:cNvSpPr/>
          <p:nvPr/>
        </p:nvSpPr>
        <p:spPr>
          <a:xfrm>
            <a:off x="457200" y="310896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54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takes items 1 + 2</a:t>
            </a:r>
            <a:endParaRPr lang="en-US" sz="1400" dirty="0"/>
          </a:p>
        </p:txBody>
      </p:sp>
      <p:sp>
        <p:nvSpPr>
          <p:cNvPr id="12" name="optimal result"/>
          <p:cNvSpPr/>
          <p:nvPr/>
        </p:nvSpPr>
        <p:spPr>
          <a:xfrm>
            <a:off x="4663440" y="310896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takes items 2 + 3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Design: optimal substructure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K(i, w) be the best value using the first i items with capacity w. For item i there are only two choices.</a:t>
            </a:r>
            <a:endParaRPr lang="en-US" sz="1600" dirty="0"/>
          </a:p>
        </p:txBody>
      </p:sp>
      <p:sp>
        <p:nvSpPr>
          <p:cNvPr id="4" name="skip card"/>
          <p:cNvSpPr/>
          <p:nvPr/>
        </p:nvSpPr>
        <p:spPr>
          <a:xfrm>
            <a:off x="457200" y="182880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40080" y="2057400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item 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K(i-1, w)</a:t>
            </a:r>
            <a:endParaRPr lang="en-US" sz="1400" dirty="0"/>
          </a:p>
        </p:txBody>
      </p:sp>
      <p:sp>
        <p:nvSpPr>
          <p:cNvPr id="8" name="take card"/>
          <p:cNvSpPr/>
          <p:nvPr/>
        </p:nvSpPr>
        <p:spPr>
          <a:xfrm>
            <a:off x="4663440" y="182880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846320" y="205740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item i (if wᵢ ≤ 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vᵢ + K(i-1, w-wᵢ)</a:t>
            </a:r>
            <a:endParaRPr lang="en-US" sz="1400" dirty="0"/>
          </a:p>
        </p:txBody>
      </p:sp>
      <p:sp>
        <p:nvSpPr>
          <p:cNvPr id="12" name="recurrence card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K(0, w) = 0  and  K(i, 0) =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K(i, w) = K(i-1, w)   if wᵢ &gt; 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K(i, w) = max( K(i-1, w),  vᵢ + K(i-1, w-wᵢ) )   otherwise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DP table</a:t>
            </a:r>
            <a:endParaRPr lang="en-US" sz="3200" dirty="0"/>
          </a:p>
        </p:txBody>
      </p:sp>
      <p:graphicFrame>
        <p:nvGraphicFramePr>
          <p:cNvPr id="6" name="d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(w, 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= 1 (2, 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= 2 (3,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= 3 (4, 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= 4 (5, 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</a:tbl>
          </a:graphicData>
        </a:graphic>
      </p:graphicFrame>
      <p:sp>
        <p:nvSpPr>
          <p:cNvPr id="4" name="note card"/>
          <p:cNvSpPr/>
          <p:nvPr/>
        </p:nvSpPr>
        <p:spPr>
          <a:xfrm>
            <a:off x="6400800" y="1188720"/>
            <a:ext cx="2286000" cy="2743200"/>
          </a:xfrm>
          <a:prstGeom prst="roundRect">
            <a:avLst>
              <a:gd name="adj" fmla="val 48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32588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5, four items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uses the row above, so fill row by row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K(4, 5) = 7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cost: one comparison and one addition, so O(1) per cell.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(bottom-up DP)</a:t>
            </a:r>
            <a:endParaRPr lang="en-US" sz="3200" dirty="0"/>
          </a:p>
        </p:txBody>
      </p:sp>
      <p:sp>
        <p:nvSpPr>
          <p:cNvPr id="3" name="code card"/>
          <p:cNvSpPr/>
          <p:nvPr/>
        </p:nvSpPr>
        <p:spPr>
          <a:xfrm>
            <a:off x="457200" y="118872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KNAPSACK(wt[1..n], val[1..n], W)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w = 0 to W:  K[0][w] = 0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1 to n: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w = 0 to W: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wt[i] &lt;= w: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K[i][w] = max(K[i-1][w],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val[i] + K[i-1][w-wt[i]])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K[i][w] = K[i-1][w]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K[n][W]</a:t>
            </a:r>
            <a:endParaRPr lang="en-US" sz="1200" dirty="0"/>
          </a:p>
        </p:txBody>
      </p:sp>
      <p:sp>
        <p:nvSpPr>
          <p:cNvPr id="5" name="badge"/>
          <p:cNvSpPr/>
          <p:nvPr/>
        </p:nvSpPr>
        <p:spPr>
          <a:xfrm>
            <a:off x="6126480" y="128016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188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 is all zeros: no items, no value</a:t>
            </a:r>
            <a:endParaRPr lang="en-US" sz="1400" dirty="0"/>
          </a:p>
        </p:txBody>
      </p:sp>
      <p:sp>
        <p:nvSpPr>
          <p:cNvPr id="8" name="badge"/>
          <p:cNvSpPr/>
          <p:nvPr/>
        </p:nvSpPr>
        <p:spPr>
          <a:xfrm>
            <a:off x="6126480" y="242316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331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by row, left to right</a:t>
            </a:r>
            <a:endParaRPr lang="en-US" sz="1400" dirty="0"/>
          </a:p>
        </p:txBody>
      </p:sp>
      <p:sp>
        <p:nvSpPr>
          <p:cNvPr id="11" name="badge"/>
          <p:cNvSpPr/>
          <p:nvPr/>
        </p:nvSpPr>
        <p:spPr>
          <a:xfrm>
            <a:off x="6126480" y="356616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sits in the last cell K[n][W]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Recovering the chosen items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K[4][5] and walk upward. If K[i][w] ≠ K[i-1][w], item i was taken.</a:t>
            </a:r>
            <a:endParaRPr lang="en-US" sz="1600" dirty="0"/>
          </a:p>
        </p:txBody>
      </p:sp>
      <p:sp>
        <p:nvSpPr>
          <p:cNvPr id="4" name="step card"/>
          <p:cNvSpPr/>
          <p:nvPr/>
        </p:nvSpPr>
        <p:spPr>
          <a:xfrm>
            <a:off x="457200" y="1600200"/>
            <a:ext cx="5394960" cy="594360"/>
          </a:xfrm>
          <a:prstGeom prst="roundRect">
            <a:avLst>
              <a:gd name="adj" fmla="val 18462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566928" y="1673352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00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4: </a:t>
            </a:r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K[4][5] = K[3][5] = 7  →  skip</a:t>
            </a:r>
            <a:endParaRPr lang="en-US" sz="1300" dirty="0"/>
          </a:p>
        </p:txBody>
      </p:sp>
      <p:sp>
        <p:nvSpPr>
          <p:cNvPr id="8" name="step card"/>
          <p:cNvSpPr/>
          <p:nvPr/>
        </p:nvSpPr>
        <p:spPr>
          <a:xfrm>
            <a:off x="457200" y="2313432"/>
            <a:ext cx="5394960" cy="594360"/>
          </a:xfrm>
          <a:prstGeom prst="roundRect">
            <a:avLst>
              <a:gd name="adj" fmla="val 18462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566928" y="2386584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134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3: </a:t>
            </a:r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K[3][5] = K[2][5] = 7  →  skip</a:t>
            </a:r>
            <a:endParaRPr lang="en-US" sz="1300" dirty="0"/>
          </a:p>
        </p:txBody>
      </p:sp>
      <p:sp>
        <p:nvSpPr>
          <p:cNvPr id="12" name="step card"/>
          <p:cNvSpPr/>
          <p:nvPr/>
        </p:nvSpPr>
        <p:spPr>
          <a:xfrm>
            <a:off x="457200" y="3026664"/>
            <a:ext cx="5394960" cy="594360"/>
          </a:xfrm>
          <a:prstGeom prst="roundRect">
            <a:avLst>
              <a:gd name="adj" fmla="val 18462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566928" y="309981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266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2: </a:t>
            </a:r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K[2][5] = 7 ≠ K[1][5] = 3  →  take, w = 5 - 3 = 2</a:t>
            </a:r>
            <a:endParaRPr lang="en-US" sz="1300" dirty="0"/>
          </a:p>
        </p:txBody>
      </p:sp>
      <p:sp>
        <p:nvSpPr>
          <p:cNvPr id="16" name="step card"/>
          <p:cNvSpPr/>
          <p:nvPr/>
        </p:nvSpPr>
        <p:spPr>
          <a:xfrm>
            <a:off x="457200" y="3739896"/>
            <a:ext cx="5394960" cy="594360"/>
          </a:xfrm>
          <a:prstGeom prst="roundRect">
            <a:avLst>
              <a:gd name="adj" fmla="val 18462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566928" y="381304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73989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1: </a:t>
            </a:r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K[1][2] = 3 ≠ K[0][2] = 0  →  take, w = 0</a:t>
            </a:r>
            <a:endParaRPr lang="en-US" sz="1300" dirty="0"/>
          </a:p>
        </p:txBody>
      </p:sp>
      <p:sp>
        <p:nvSpPr>
          <p:cNvPr id="20" name="result card"/>
          <p:cNvSpPr/>
          <p:nvPr/>
        </p:nvSpPr>
        <p:spPr>
          <a:xfrm>
            <a:off x="6126480" y="16002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173736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 1 and 2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2 + 3 = 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3 + 4 = 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analysis</a:t>
            </a:r>
            <a:endParaRPr lang="en-US" sz="3200" dirty="0"/>
          </a:p>
        </p:txBody>
      </p:sp>
      <p:sp>
        <p:nvSpPr>
          <p:cNvPr id="3" name="stat card"/>
          <p:cNvSpPr/>
          <p:nvPr/>
        </p:nvSpPr>
        <p:spPr>
          <a:xfrm>
            <a:off x="457200" y="1234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O(nW)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(W+1) cells, O(1) work each</a:t>
            </a:r>
            <a:endParaRPr lang="en-US" sz="1400" dirty="0"/>
          </a:p>
        </p:txBody>
      </p:sp>
      <p:sp>
        <p:nvSpPr>
          <p:cNvPr id="6" name="stat card"/>
          <p:cNvSpPr/>
          <p:nvPr/>
        </p:nvSpPr>
        <p:spPr>
          <a:xfrm>
            <a:off x="3291840" y="1234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77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O(nW)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table. Only O(W) if we keep one row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6126480" y="1234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O(2ⁿ)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every subset of items</a:t>
            </a:r>
            <a:endParaRPr lang="en-US" sz="1400" dirty="0"/>
          </a:p>
        </p:txBody>
      </p:sp>
      <p:sp>
        <p:nvSpPr>
          <p:cNvPr id="12" name="pseudo card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520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Pseudo-polynomial: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depends on the numeric value of W, not just the input length. W needs only log W bits, so O(nW) is exponential in the size of W. The problem is NP-hard.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approaches</a:t>
            </a:r>
            <a:endParaRPr lang="en-US" sz="3200" dirty="0"/>
          </a:p>
        </p:txBody>
      </p:sp>
      <p:graphicFrame>
        <p:nvGraphicFramePr>
          <p:cNvPr id="10" name="approac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fine for tiny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Memoized recursion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Computes only reachable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Bottom-up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backtrack the item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array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w downward; loses item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1-D version, iterate w from W down to wt[i] so each item is used at most once.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akeaway card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7405A"/>
          </a:solidFill>
          <a:ln w="12700">
            <a:solidFill>
              <a:srgbClr val="17405A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40080" y="144018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401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801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by ratio is not optimal for 0/1 items. Use dynamic programming</a:t>
            </a:r>
            <a:endParaRPr lang="en-US" sz="1600" dirty="0"/>
          </a:p>
        </p:txBody>
      </p:sp>
      <p:sp>
        <p:nvSpPr>
          <p:cNvPr id="7" name="takeaway card"/>
          <p:cNvSpPr/>
          <p:nvPr/>
        </p:nvSpPr>
        <p:spPr>
          <a:xfrm>
            <a:off x="457200" y="224028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7405A"/>
          </a:solidFill>
          <a:ln w="12700">
            <a:solidFill>
              <a:srgbClr val="17405A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640080" y="240030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00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K(i, w) = max(skip, take) gives optimal substructure and overlapping subproblems</a:t>
            </a:r>
            <a:endParaRPr lang="en-US" sz="1600" dirty="0"/>
          </a:p>
        </p:txBody>
      </p:sp>
      <p:sp>
        <p:nvSpPr>
          <p:cNvPr id="11" name="takeaway card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7405A"/>
          </a:solidFill>
          <a:ln w="12700">
            <a:solidFill>
              <a:srgbClr val="17405A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640080" y="336042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360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004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O(nW) time and O(W) space with a 1-D array, but pseudo-polynomial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Claude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Soumya Saraf  |  PRN 25070521127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A26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napsack">
  <a:themeElements>
    <a:clrScheme name="Knapsack">
      <a:dk1>
        <a:srgbClr val="1B2A2F"/>
      </a:dk1>
      <a:lt1>
        <a:srgbClr val="FFFFFF"/>
      </a:lt1>
      <a:dk2>
        <a:srgbClr val="0F2A3D"/>
      </a:dk2>
      <a:lt2>
        <a:srgbClr val="EAF1F4"/>
      </a:lt2>
      <a:accent1>
        <a:srgbClr val="F4A261"/>
      </a:accent1>
      <a:accent2>
        <a:srgbClr val="2A9D8F"/>
      </a:accent2>
      <a:accent3>
        <a:srgbClr val="E76F51"/>
      </a:accent3>
      <a:accent4>
        <a:srgbClr val="5B7C99"/>
      </a:accent4>
      <a:accent5>
        <a:srgbClr val="8AB17D"/>
      </a:accent5>
      <a:accent6>
        <a:srgbClr val="264653"/>
      </a:accent6>
      <a:hlink>
        <a:srgbClr val="2A9D8F"/>
      </a:hlink>
      <a:folHlink>
        <a:srgbClr val="5B7C99"/>
      </a:folHlink>
    </a:clrScheme>
    <a:fontScheme name="Knaps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0/1 Knapsack Problem: Design, Analysis and Algorithm</dc:title>
  <dc:subject>PptxGenJS Presentation</dc:subject>
  <dc:creator>PptxGenJS</dc:creator>
  <cp:lastModifiedBy>PptxGenJS</cp:lastModifiedBy>
  <cp:revision>1</cp:revision>
  <dcterms:created xsi:type="dcterms:W3CDTF">2026-10-19T05:48:09Z</dcterms:created>
  <dcterms:modified xsi:type="dcterms:W3CDTF">2026-10-19T05:48:09Z</dcterms:modified>
</cp:coreProperties>
</file>